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1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Cross-validated model ranking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Approx. CV RMSE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XGBoost</c:v>
                </c:pt>
                <c:pt idx="1">
                  <c:v>Random Forest</c:v>
                </c:pt>
                <c:pt idx="2">
                  <c:v>SGD Regressor</c:v>
                </c:pt>
                <c:pt idx="3">
                  <c:v>Linear Regression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5098</c:v>
                </c:pt>
                <c:pt idx="1">
                  <c:v>6217</c:v>
                </c:pt>
                <c:pt idx="2">
                  <c:v>7405</c:v>
                </c:pt>
                <c:pt idx="3">
                  <c:v>7406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82-420E-A5FC-AC9B638BAD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00"/>
          <c:min val="0"/>
        </c:scaling>
        <c:delete val="0"/>
        <c:axPos val="l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826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Used Car Price Prediction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BgkhBNn9cRM9O4CyWliKWmrhAp6DF3_W/view?usp=drive_link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imba-gwu/Machine_learning_projec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Used Car Dealership Near Albany">
            <a:extLst>
              <a:ext uri="{FF2B5EF4-FFF2-40B4-BE49-F238E27FC236}">
                <a16:creationId xmlns:a16="http://schemas.microsoft.com/office/drawing/2014/main" id="{3729D773-4357-351D-2B16-9FD50FFFF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800" y="2611120"/>
            <a:ext cx="7550009" cy="424688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63B288F6-5BF8-C211-D3CB-5A07154ADBEF}"/>
              </a:ext>
            </a:extLst>
          </p:cNvPr>
          <p:cNvSpPr txBox="1"/>
          <p:nvPr/>
        </p:nvSpPr>
        <p:spPr>
          <a:xfrm>
            <a:off x="659219" y="1688605"/>
            <a:ext cx="11198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link: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drive.google.com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/file/d/1BgkhBNn9cRM9O4CyWliKWmrhAp6DF3_W/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view?usp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=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drive_link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link: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github.com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/Simba-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gwu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/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Machine_learning_project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D65011A-B2AF-4EAC-6941-43D4C8747822}"/>
              </a:ext>
            </a:extLst>
          </p:cNvPr>
          <p:cNvSpPr txBox="1"/>
          <p:nvPr/>
        </p:nvSpPr>
        <p:spPr>
          <a:xfrm>
            <a:off x="7499209" y="4049751"/>
            <a:ext cx="474360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lvl="2"/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Simba Mpofu</a:t>
            </a:r>
          </a:p>
          <a:p>
            <a:pPr lvl="2"/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Heng Jui Chu</a:t>
            </a:r>
          </a:p>
          <a:p>
            <a:pPr lvl="2"/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Simbanegavi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Simbarashe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42905FA-E0C7-115B-7E08-87D17928BDAE}"/>
              </a:ext>
            </a:extLst>
          </p:cNvPr>
          <p:cNvSpPr txBox="1"/>
          <p:nvPr/>
        </p:nvSpPr>
        <p:spPr>
          <a:xfrm>
            <a:off x="1686560" y="992367"/>
            <a:ext cx="94966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Used Car Selling Price Using Machine Learning</a:t>
            </a:r>
            <a:endParaRPr lang="en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68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Project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Goal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52435"/>
                </a:solidFill>
              </a:rPr>
              <a:t>Build a machine learning model that predicts the selling price of a used car from vehicle characteristics and listing information.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512064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4"/>
                </a:solidFill>
              </a:rPr>
              <a:t>Business relevance: helps buyers, sellers, and dealerships estimate fair prices.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4"/>
                </a:solidFill>
              </a:rPr>
              <a:t>Prediction target: selling price of used cars.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4"/>
                </a:solidFill>
              </a:rPr>
              <a:t>Approach: clean the data, engineer useful features, compare multiple regression models, and select the best performer.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26480" y="128016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2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1572768"/>
            <a:ext cx="1005840" cy="320040"/>
          </a:xfrm>
          <a:prstGeom prst="rect">
            <a:avLst/>
          </a:prstGeom>
          <a:solidFill>
            <a:srgbClr val="0F4C81"/>
          </a:solidFill>
          <a:ln>
            <a:solidFill>
              <a:srgbClr val="0F4C81">
                <a:alpha val="0"/>
              </a:srgbClr>
            </a:solidFill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1572768"/>
            <a:ext cx="1188720" cy="32004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95560" y="1572768"/>
            <a:ext cx="868680" cy="320040"/>
          </a:xfrm>
          <a:prstGeom prst="rect">
            <a:avLst/>
          </a:prstGeom>
          <a:solidFill>
            <a:srgbClr val="059669"/>
          </a:solidFill>
          <a:ln>
            <a:solidFill>
              <a:srgbClr val="059669">
                <a:alpha val="0"/>
              </a:srgbClr>
            </a:solidFill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2057400"/>
            <a:ext cx="1280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Year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Mileage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Manufacturer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Model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Fuel / transmission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Condition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46720" y="205740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Feature prep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Encoding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Scaling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Model comparison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Hyperparameter tuning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966960" y="2514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4C81"/>
                </a:solidFill>
              </a:rPr>
              <a:t>Predicted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F4C81"/>
                </a:solidFill>
              </a:rPr>
              <a:t>car price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662" y="4256423"/>
            <a:ext cx="2972058" cy="25148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Dataset and Key Variables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40233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81"/>
                </a:solidFill>
              </a:rPr>
              <a:t>Representative fields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320040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4"/>
                </a:solidFill>
              </a:rPr>
              <a:t>year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4"/>
                </a:solidFill>
              </a:rPr>
              <a:t>odometer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4"/>
                </a:solidFill>
              </a:rPr>
              <a:t>manufacturer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4"/>
                </a:solidFill>
              </a:rPr>
              <a:t>model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4"/>
                </a:solidFill>
              </a:rPr>
              <a:t>fuel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4"/>
                </a:solidFill>
              </a:rPr>
              <a:t>transmission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4"/>
                </a:solidFill>
              </a:rPr>
              <a:t>cylinders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4"/>
                </a:solidFill>
              </a:rPr>
              <a:t>condition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4"/>
                </a:solidFill>
              </a:rPr>
              <a:t>title_status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4"/>
                </a:solidFill>
              </a:rPr>
              <a:t>drive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800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81"/>
                </a:solidFill>
              </a:rPr>
              <a:t>Target variable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983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435"/>
                </a:solidFill>
              </a:rPr>
              <a:t>Selling price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83480" y="1234440"/>
            <a:ext cx="63093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81"/>
                </a:solidFill>
              </a:rPr>
              <a:t>Why this is a good ML problem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03520" y="1965960"/>
            <a:ext cx="539496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444"/>
                </a:solidFill>
              </a:rPr>
              <a:t>Price is continuous, so regression models are appropriate.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444"/>
                </a:solidFill>
              </a:rPr>
              <a:t>The dataset combines numeric and categorical variables, making preprocessing important.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444"/>
                </a:solidFill>
              </a:rPr>
              <a:t>Vehicle age, mileage, and brand effects are expected to drive strong patterns.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444"/>
                </a:solidFill>
              </a:rPr>
              <a:t>The problem has clear real-world value and measurable performance metrics.</a:t>
            </a:r>
            <a:endParaRPr lang="en-US" sz="1800" dirty="0"/>
          </a:p>
        </p:txBody>
      </p:sp>
      <p:pic>
        <p:nvPicPr>
          <p:cNvPr id="12" name="Image 0" descr="/mnt/data/usedcar_assets/cell_3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504" y="4160520"/>
            <a:ext cx="3187976" cy="1965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88739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Data Preprocessing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52578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4538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81"/>
                </a:solidFill>
              </a:rPr>
              <a:t>1. </a:t>
            </a:r>
            <a:r>
              <a:rPr lang="en-US" sz="1600" b="1" dirty="0">
                <a:solidFill>
                  <a:srgbClr val="FF0000"/>
                </a:solidFill>
              </a:rPr>
              <a:t>Clean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920240" y="14264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3444"/>
                </a:solidFill>
              </a:rPr>
              <a:t>Remove obvious outliers and unwanted columns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5257800" cy="621792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D7E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19702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81"/>
                </a:solidFill>
              </a:rPr>
              <a:t>2. </a:t>
            </a:r>
            <a:r>
              <a:rPr lang="en-US" sz="1600" b="1" dirty="0">
                <a:solidFill>
                  <a:srgbClr val="FF0000"/>
                </a:solidFill>
              </a:rPr>
              <a:t>Split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920240" y="21122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3444"/>
                </a:solidFill>
              </a:rPr>
              <a:t>Create train, validation, and test sets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697480"/>
            <a:ext cx="52578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3627" y="2982858"/>
            <a:ext cx="1158826" cy="142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81"/>
                </a:solidFill>
              </a:rPr>
              <a:t>3. </a:t>
            </a:r>
            <a:r>
              <a:rPr lang="en-US" sz="1600" b="1" dirty="0">
                <a:solidFill>
                  <a:srgbClr val="FF0000"/>
                </a:solidFill>
              </a:rPr>
              <a:t>Reduce noise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920240" y="27980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3444"/>
                </a:solidFill>
              </a:rPr>
              <a:t>Identify uncommon categories and remove weak features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383280"/>
            <a:ext cx="5257800" cy="621792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D7E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611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81"/>
                </a:solidFill>
              </a:rPr>
              <a:t>4. </a:t>
            </a:r>
            <a:r>
              <a:rPr lang="en-US" sz="1600" b="1" dirty="0">
                <a:solidFill>
                  <a:srgbClr val="FF0000"/>
                </a:solidFill>
              </a:rPr>
              <a:t>Encode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920240" y="34838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3444"/>
                </a:solidFill>
              </a:rPr>
              <a:t>Convert categorical variables into model-ready features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059936"/>
            <a:ext cx="52578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302955"/>
            <a:ext cx="1097280" cy="186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81"/>
                </a:solidFill>
              </a:rPr>
              <a:t>5.</a:t>
            </a:r>
            <a:r>
              <a:rPr lang="en-US" sz="1600" b="1" dirty="0">
                <a:solidFill>
                  <a:srgbClr val="FF0000"/>
                </a:solidFill>
              </a:rPr>
              <a:t>Feature Engineer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920240" y="4169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3444"/>
                </a:solidFill>
              </a:rPr>
              <a:t>Create useful variables such as car_age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1414" y="4745736"/>
            <a:ext cx="5257800" cy="621792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D7E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5840" y="48828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81"/>
                </a:solidFill>
              </a:rPr>
              <a:t>6. </a:t>
            </a:r>
            <a:r>
              <a:rPr lang="en-US" sz="1600" b="1" dirty="0">
                <a:solidFill>
                  <a:srgbClr val="FF0000"/>
                </a:solidFill>
              </a:rPr>
              <a:t>Scale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920240" y="48554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3444"/>
                </a:solidFill>
              </a:rPr>
              <a:t>Standardize features where needed for training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1417320"/>
            <a:ext cx="4846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20840" y="1783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81"/>
                </a:solidFill>
              </a:rPr>
              <a:t>Why preprocessing mattered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20840" y="2148840"/>
            <a:ext cx="406908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4"/>
                </a:solidFill>
              </a:rPr>
              <a:t>Used-car listings are noisy and often contain missing or inconsistent values.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4"/>
                </a:solidFill>
              </a:rPr>
              <a:t>Categorical fields such as model and manufacturer must be encoded before model training.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4"/>
                </a:solidFill>
              </a:rPr>
              <a:t>Feature engineering improves the model’s ability to capture depreciation patterns.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4"/>
                </a:solidFill>
              </a:rPr>
              <a:t>A separate test set protects against overly optimistic results.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720840" y="4892040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5"/>
                </a:solidFill>
              </a:rPr>
              <a:t>Outcome: a cleaner and more informative feature matrix for model comparison</a:t>
            </a:r>
            <a:endParaRPr lang="en-US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Exploratory Data Analysis</a:t>
            </a:r>
            <a:endParaRPr lang="en-US" sz="2400" dirty="0"/>
          </a:p>
        </p:txBody>
      </p:sp>
      <p:pic>
        <p:nvPicPr>
          <p:cNvPr id="4" name="Image 0" descr="/mnt/data/usedcar_assets/cell_3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62" y="1234440"/>
            <a:ext cx="3384635" cy="2148840"/>
          </a:xfrm>
          <a:prstGeom prst="rect">
            <a:avLst/>
          </a:prstGeom>
        </p:spPr>
      </p:pic>
      <p:pic>
        <p:nvPicPr>
          <p:cNvPr id="5" name="Image 1" descr="/mnt/data/usedcar_assets/cell_33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877" y="1234440"/>
            <a:ext cx="3350662" cy="2148840"/>
          </a:xfrm>
          <a:prstGeom prst="rect">
            <a:avLst/>
          </a:prstGeom>
        </p:spPr>
      </p:pic>
      <p:pic>
        <p:nvPicPr>
          <p:cNvPr id="6" name="Image 2" descr="/mnt/data/usedcar_assets/cell_36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322070"/>
            <a:ext cx="3383280" cy="197358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822960" y="3840480"/>
            <a:ext cx="108813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/>
          <p:nvPr/>
        </p:nvSpPr>
        <p:spPr>
          <a:xfrm>
            <a:off x="1097280" y="4160520"/>
            <a:ext cx="102412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43444"/>
                </a:solidFill>
              </a:rPr>
              <a:t>Price distribution is right-skewed: many cars are lower-priced, with fewer very expensive listings.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43444"/>
                </a:solidFill>
              </a:rPr>
              <a:t>Year vs price shows that newer cars generally command higher prices.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43444"/>
                </a:solidFill>
              </a:rPr>
              <a:t>Odometer vs price shows a negative relationship: higher mileage tends to reduce value.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Models and Tuning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4754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81"/>
                </a:solidFill>
              </a:rPr>
              <a:t>Models compared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28346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43444"/>
                </a:solidFill>
              </a:rPr>
              <a:t>SGD Regressor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43444"/>
                </a:solidFill>
              </a:rPr>
              <a:t>Linear Regression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43444"/>
                </a:solidFill>
              </a:rPr>
              <a:t>Random Forest Regressor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43444"/>
                </a:solidFill>
              </a:rPr>
              <a:t>XGBoost Regressor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81"/>
                </a:solidFill>
              </a:rPr>
              <a:t>Tuning examples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39319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4"/>
                </a:solidFill>
              </a:rPr>
              <a:t>Random Forest: n_estimators, max_depth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4"/>
                </a:solidFill>
              </a:rPr>
              <a:t>XGBoost: n_estimators, max_depth, learning_rate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4"/>
                </a:solidFill>
              </a:rPr>
              <a:t>SGD: eta0, alpha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234440"/>
            <a:ext cx="55321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Chart 0"/>
          <p:cNvGraphicFramePr/>
          <p:nvPr/>
        </p:nvGraphicFramePr>
        <p:xfrm>
          <a:off x="5989320" y="1691640"/>
          <a:ext cx="49377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6080760" y="50749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5"/>
                </a:solidFill>
              </a:rPr>
              <a:t>Lower RMSE is better. XGBoost ranked first and was selected as the final model.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Final Model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" y="169164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2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920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81"/>
                </a:solidFill>
              </a:rPr>
              <a:t>MAE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240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435"/>
                </a:solidFill>
              </a:rPr>
              <a:t>2,908.92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59" y="2670048"/>
            <a:ext cx="297531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Average absolute error in dollars</a:t>
            </a:r>
          </a:p>
        </p:txBody>
      </p:sp>
      <p:sp>
        <p:nvSpPr>
          <p:cNvPr id="8" name="Shape 6"/>
          <p:cNvSpPr/>
          <p:nvPr/>
        </p:nvSpPr>
        <p:spPr>
          <a:xfrm>
            <a:off x="4617720" y="169164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2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920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81"/>
                </a:solidFill>
              </a:rPr>
              <a:t>RMSE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00600" y="2240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435"/>
                </a:solidFill>
              </a:rPr>
              <a:t>4,999.56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00599" y="2670048"/>
            <a:ext cx="305972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Penalizes larger prediction errors</a:t>
            </a:r>
          </a:p>
        </p:txBody>
      </p:sp>
      <p:sp>
        <p:nvSpPr>
          <p:cNvPr id="12" name="Shape 10"/>
          <p:cNvSpPr/>
          <p:nvPr/>
        </p:nvSpPr>
        <p:spPr>
          <a:xfrm>
            <a:off x="8366760" y="169164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2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49640" y="1920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81"/>
                </a:solidFill>
              </a:rPr>
              <a:t>R²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49640" y="2240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435"/>
                </a:solidFill>
              </a:rPr>
              <a:t>0.88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549640" y="26700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Explains 88% of price variation</a:t>
            </a:r>
          </a:p>
        </p:txBody>
      </p:sp>
      <p:sp>
        <p:nvSpPr>
          <p:cNvPr id="16" name="Shape 14"/>
          <p:cNvSpPr/>
          <p:nvPr/>
        </p:nvSpPr>
        <p:spPr>
          <a:xfrm>
            <a:off x="685800" y="3794760"/>
            <a:ext cx="10607040" cy="231589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43000" y="4133088"/>
            <a:ext cx="98755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43444"/>
                </a:solidFill>
              </a:rPr>
              <a:t>An R² of 0.88 means the model captures most of the variation in used-car prices.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43444"/>
                </a:solidFill>
              </a:rPr>
              <a:t>MAE near $2.9k shows typical prediction error is moderate for a noisy marketplace dataset.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43444"/>
                </a:solidFill>
              </a:rPr>
              <a:t>RMSE is higher than MAE, indicating some larger misses still occur on difficult examples.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Most Important Features</a:t>
            </a:r>
            <a:endParaRPr lang="en-US" sz="2400" dirty="0"/>
          </a:p>
        </p:txBody>
      </p:sp>
      <p:pic>
        <p:nvPicPr>
          <p:cNvPr id="4" name="Image 0" descr="/mnt/data/usedcar_assets/cell_15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38" y="1547447"/>
            <a:ext cx="6284742" cy="441373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0" y="1417320"/>
            <a:ext cx="4114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452360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81"/>
                </a:solidFill>
              </a:rPr>
              <a:t>Key takeaway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452360" y="2148840"/>
            <a:ext cx="333756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4"/>
                </a:solidFill>
              </a:rPr>
              <a:t>Model-specific features and manufacturer signals were highly influential.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4"/>
                </a:solidFill>
              </a:rPr>
              <a:t>Car age was a major predictor, matching real-world depreciation logic.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4"/>
                </a:solidFill>
              </a:rPr>
              <a:t>Condition, fuel type, and drive configuration also contributed to price differences.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452360" y="45262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435"/>
                </a:solidFill>
              </a:rPr>
              <a:t>Interpretation: both vehicle identity and usage-related features matter.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Conclusion and Presentation Handoff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81"/>
                </a:solidFill>
              </a:rPr>
              <a:t>Main conclusion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5720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444"/>
                </a:solidFill>
              </a:rPr>
              <a:t>The project successfully built a strong used-car price predictor.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444"/>
                </a:solidFill>
              </a:rPr>
              <a:t>XGBoost outperformed the other tested models after tuning.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444"/>
                </a:solidFill>
              </a:rPr>
              <a:t>The workflow demonstrates a full ML pipeline: preprocessing, EDA, modeling, evaluation, and interpretation.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1645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81"/>
                </a:solidFill>
              </a:rPr>
              <a:t>Suggested speaking split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09360" y="1280160"/>
            <a:ext cx="5029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2011680"/>
            <a:ext cx="438912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00" b="1" dirty="0">
                <a:solidFill>
                  <a:srgbClr val="FF0000"/>
                </a:solidFill>
              </a:rPr>
              <a:t>Simbarashe </a:t>
            </a:r>
            <a:r>
              <a:rPr lang="en-US" sz="1700" b="1" baseline="30000" dirty="0">
                <a:solidFill>
                  <a:srgbClr val="FF0000"/>
                </a:solidFill>
              </a:rPr>
              <a:t>1</a:t>
            </a:r>
            <a:r>
              <a:rPr lang="en-US" sz="1700" dirty="0">
                <a:solidFill>
                  <a:srgbClr val="243444"/>
                </a:solidFill>
              </a:rPr>
              <a:t>: background, objective, and dataset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b="1" dirty="0">
                <a:solidFill>
                  <a:srgbClr val="FF0000"/>
                </a:solidFill>
              </a:rPr>
              <a:t>Heng-Jui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700" dirty="0">
                <a:solidFill>
                  <a:srgbClr val="243444"/>
                </a:solidFill>
              </a:rPr>
              <a:t>: preprocessing, EDA, and modeling choices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b="1" dirty="0" err="1">
                <a:solidFill>
                  <a:srgbClr val="FF0000"/>
                </a:solidFill>
              </a:rPr>
              <a:t>Mpofu</a:t>
            </a:r>
            <a:r>
              <a:rPr lang="en-US" sz="1700" b="1" dirty="0">
                <a:solidFill>
                  <a:srgbClr val="FF0000"/>
                </a:solidFill>
              </a:rPr>
              <a:t> </a:t>
            </a:r>
            <a:r>
              <a:rPr lang="en-US" sz="1700" b="1" baseline="30000" dirty="0">
                <a:solidFill>
                  <a:srgbClr val="FF0000"/>
                </a:solidFill>
              </a:rPr>
              <a:t>3</a:t>
            </a:r>
            <a:r>
              <a:rPr lang="en-US" sz="1700" dirty="0">
                <a:solidFill>
                  <a:srgbClr val="243444"/>
                </a:solidFill>
              </a:rPr>
              <a:t>: results, feature importance, conclusion.</a:t>
            </a:r>
          </a:p>
          <a:p>
            <a:pPr marL="177800" indent="-177800">
              <a:buSzPct val="100000"/>
              <a:buChar char="•"/>
            </a:pPr>
            <a:r>
              <a:rPr lang="en-US" sz="1700" b="1" dirty="0">
                <a:solidFill>
                  <a:srgbClr val="FF0000"/>
                </a:solidFill>
              </a:rPr>
              <a:t>All</a:t>
            </a:r>
            <a:r>
              <a:rPr lang="en-US" sz="1700" dirty="0">
                <a:solidFill>
                  <a:srgbClr val="243444"/>
                </a:solidFill>
              </a:rPr>
              <a:t>: Q&amp;A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40690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81"/>
                </a:solidFill>
              </a:rPr>
              <a:t>Final message to audience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4572000"/>
            <a:ext cx="4754880" cy="1107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435"/>
                </a:solidFill>
              </a:rPr>
              <a:t>Machine learning can estimate used-car prices effectively when the data is cleaned well and the right model is chosen.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230" y="4231943"/>
            <a:ext cx="3696020" cy="2370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428C3BB-9D8F-8D9D-B111-8CFCEB53F10E}"/>
              </a:ext>
            </a:extLst>
          </p:cNvPr>
          <p:cNvSpPr txBox="1"/>
          <p:nvPr/>
        </p:nvSpPr>
        <p:spPr>
          <a:xfrm>
            <a:off x="340360" y="358894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sz="1800" b="1" dirty="0">
                <a:solidFill>
                  <a:srgbClr val="0F172A"/>
                </a:solidFill>
              </a:rPr>
              <a:t>Compare with ChatGPT</a:t>
            </a:r>
            <a:endParaRPr lang="en-US" altLang="zh-TW" sz="1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D35FA7C-F393-DF3D-F60B-8DC697D2CE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107"/>
          <a:stretch>
            <a:fillRect/>
          </a:stretch>
        </p:blipFill>
        <p:spPr>
          <a:xfrm>
            <a:off x="131253" y="939800"/>
            <a:ext cx="8596187" cy="49784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56104B2-16FF-EFDA-F6DD-C4C97879A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250" y="939800"/>
            <a:ext cx="3313497" cy="123444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DECF4DD-C596-6BC6-BE61-E003DD872451}"/>
              </a:ext>
            </a:extLst>
          </p:cNvPr>
          <p:cNvSpPr txBox="1"/>
          <p:nvPr/>
        </p:nvSpPr>
        <p:spPr>
          <a:xfrm>
            <a:off x="8858075" y="2905760"/>
            <a:ext cx="320267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000" dirty="0"/>
              <a:t>Test data size: 100</a:t>
            </a:r>
          </a:p>
          <a:p>
            <a:r>
              <a:rPr kumimoji="1" lang="en-US" altLang="zh-TW" sz="3000" dirty="0"/>
              <a:t>Our project win: 6</a:t>
            </a:r>
          </a:p>
          <a:p>
            <a:r>
              <a:rPr kumimoji="1" lang="en-US" altLang="zh-TW" sz="3000" dirty="0"/>
              <a:t>ChatGPT win: 0</a:t>
            </a:r>
            <a:endParaRPr kumimoji="1" lang="zh-TW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877438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2661" y="751344"/>
            <a:ext cx="929346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REFFERENCES</a:t>
            </a:r>
          </a:p>
          <a:p>
            <a:endParaRPr lang="en-US" dirty="0"/>
          </a:p>
          <a:p>
            <a:r>
              <a:rPr lang="en-US" dirty="0"/>
              <a:t>Reese, A. (</a:t>
            </a:r>
            <a:r>
              <a:rPr lang="en-US" dirty="0" err="1"/>
              <a:t>n.d.</a:t>
            </a:r>
            <a:r>
              <a:rPr lang="en-US" dirty="0"/>
              <a:t>). Craigslist cars and trucks data [Data set]. </a:t>
            </a:r>
            <a:r>
              <a:rPr lang="en-US" dirty="0" err="1"/>
              <a:t>Kaggle</a:t>
            </a:r>
            <a:r>
              <a:rPr lang="en-US" dirty="0"/>
              <a:t>. https://www.kaggle.com/datasets/austinreese/craigslist-carstrucks-data</a:t>
            </a:r>
          </a:p>
          <a:p>
            <a:endParaRPr lang="en-US" dirty="0"/>
          </a:p>
          <a:p>
            <a:r>
              <a:rPr lang="en-US" dirty="0"/>
              <a:t>Chen, T., &amp; </a:t>
            </a:r>
            <a:r>
              <a:rPr lang="en-US" dirty="0" err="1"/>
              <a:t>Guestrin</a:t>
            </a:r>
            <a:r>
              <a:rPr lang="en-US" dirty="0"/>
              <a:t>, C. (2016). </a:t>
            </a:r>
            <a:r>
              <a:rPr lang="en-US" dirty="0" err="1"/>
              <a:t>XGBoost</a:t>
            </a:r>
            <a:r>
              <a:rPr lang="en-US" dirty="0"/>
              <a:t>: A scalable tree boosting system. Proceedings of the 22nd ACM SIGKDD International Conference on Knowledge Discovery and Data Mining. https://doi.org/10.1145/2939672.2939785</a:t>
            </a:r>
          </a:p>
          <a:p>
            <a:endParaRPr lang="en-US" dirty="0"/>
          </a:p>
          <a:p>
            <a:r>
              <a:rPr lang="en-US" dirty="0" err="1"/>
              <a:t>Breiman</a:t>
            </a:r>
            <a:r>
              <a:rPr lang="en-US" dirty="0"/>
              <a:t>, L. (2001). Random forests. Machine Learning, 45(1), 5–32. https://doi.org/10.1023/A:1010933404324</a:t>
            </a:r>
          </a:p>
          <a:p>
            <a:endParaRPr lang="en-US" dirty="0"/>
          </a:p>
          <a:p>
            <a:r>
              <a:rPr lang="en-US" dirty="0" err="1"/>
              <a:t>Pedregosa</a:t>
            </a:r>
            <a:r>
              <a:rPr lang="en-US" dirty="0"/>
              <a:t>, F., </a:t>
            </a:r>
            <a:r>
              <a:rPr lang="en-US" dirty="0" err="1"/>
              <a:t>Varoquaux</a:t>
            </a:r>
            <a:r>
              <a:rPr lang="en-US" dirty="0"/>
              <a:t>, G., </a:t>
            </a:r>
            <a:r>
              <a:rPr lang="en-US" dirty="0" err="1"/>
              <a:t>Gramfort</a:t>
            </a:r>
            <a:r>
              <a:rPr lang="en-US" dirty="0"/>
              <a:t>, A., Michel, V., </a:t>
            </a:r>
            <a:r>
              <a:rPr lang="en-US" dirty="0" err="1"/>
              <a:t>Thirion</a:t>
            </a:r>
            <a:r>
              <a:rPr lang="en-US" dirty="0"/>
              <a:t>, B., </a:t>
            </a:r>
            <a:r>
              <a:rPr lang="en-US" dirty="0" err="1"/>
              <a:t>Grisel</a:t>
            </a:r>
            <a:r>
              <a:rPr lang="en-US" dirty="0"/>
              <a:t>, O., </a:t>
            </a:r>
            <a:r>
              <a:rPr lang="en-US" dirty="0" err="1"/>
              <a:t>Blondel</a:t>
            </a:r>
            <a:r>
              <a:rPr lang="en-US" dirty="0"/>
              <a:t>, M., </a:t>
            </a:r>
            <a:r>
              <a:rPr lang="en-US" dirty="0" err="1"/>
              <a:t>Prettenhofer</a:t>
            </a:r>
            <a:r>
              <a:rPr lang="en-US" dirty="0"/>
              <a:t>, P., Weiss, R., </a:t>
            </a:r>
            <a:r>
              <a:rPr lang="en-US" dirty="0" err="1"/>
              <a:t>Dubourg</a:t>
            </a:r>
            <a:r>
              <a:rPr lang="en-US" dirty="0"/>
              <a:t>, V., </a:t>
            </a:r>
            <a:r>
              <a:rPr lang="en-US" dirty="0" err="1"/>
              <a:t>Vanderplas</a:t>
            </a:r>
            <a:r>
              <a:rPr lang="en-US" dirty="0"/>
              <a:t>, J., </a:t>
            </a:r>
            <a:r>
              <a:rPr lang="en-US" dirty="0" err="1"/>
              <a:t>Passos</a:t>
            </a:r>
            <a:r>
              <a:rPr lang="en-US" dirty="0"/>
              <a:t>, A., </a:t>
            </a:r>
            <a:r>
              <a:rPr lang="en-US" dirty="0" err="1"/>
              <a:t>Cournapeau</a:t>
            </a:r>
            <a:r>
              <a:rPr lang="en-US" dirty="0"/>
              <a:t>, D., </a:t>
            </a:r>
            <a:r>
              <a:rPr lang="en-US" dirty="0" err="1"/>
              <a:t>Brucher</a:t>
            </a:r>
            <a:r>
              <a:rPr lang="en-US" dirty="0"/>
              <a:t>, M., Perrot, M., &amp; </a:t>
            </a:r>
            <a:r>
              <a:rPr lang="en-US" dirty="0" err="1"/>
              <a:t>Duchesnay</a:t>
            </a:r>
            <a:r>
              <a:rPr lang="en-US" dirty="0"/>
              <a:t>, E. (2011). </a:t>
            </a:r>
            <a:r>
              <a:rPr lang="en-US" dirty="0" err="1"/>
              <a:t>Scikit</a:t>
            </a:r>
            <a:r>
              <a:rPr lang="en-US" dirty="0"/>
              <a:t>-learn: Machine learning in Python. Journal of Machine Learning Research, 12, 2825–2830.</a:t>
            </a:r>
          </a:p>
        </p:txBody>
      </p:sp>
    </p:spTree>
    <p:extLst>
      <p:ext uri="{BB962C8B-B14F-4D97-AF65-F5344CB8AC3E}">
        <p14:creationId xmlns:p14="http://schemas.microsoft.com/office/powerpoint/2010/main" val="734202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912</Words>
  <Application>Microsoft Macintosh PowerPoint</Application>
  <PresentationFormat>Widescreen</PresentationFormat>
  <Paragraphs>143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Used Car Price Prediction - Group Presentation</dc:title>
  <dc:subject>Used Car Price Prediction</dc:subject>
  <dc:creator>OpenAI</dc:creator>
  <cp:lastModifiedBy>Mpofu, Simbarashe</cp:lastModifiedBy>
  <cp:revision>9</cp:revision>
  <dcterms:created xsi:type="dcterms:W3CDTF">2026-04-13T00:48:51Z</dcterms:created>
  <dcterms:modified xsi:type="dcterms:W3CDTF">2026-04-22T18:22:40Z</dcterms:modified>
</cp:coreProperties>
</file>